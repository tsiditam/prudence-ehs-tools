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E7490"/>
            </a:solidFill>
            <a:ln w="38100" cap="flat">
              <a:solidFill>
                <a:srgbClr val="0E7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220"/>
                    </a:solidFill>
                    <a:latin typeface="Apto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3</c:v>
                  </c:pt>
                  <c:pt idx="2">
                    <c:v>Year 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3.2</c:v>
                </c:pt>
                <c:pt idx="2">
                  <c:v>11.3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1220"/>
                  </a:solidFill>
                  <a:latin typeface="Apto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B8C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E6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C2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560320"/>
            <a:ext cx="73152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6400800" cy="457200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</p:sp>
      <p:pic>
        <p:nvPicPr>
          <p:cNvPr id="4" name="Image 0" descr="/tmp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206240" cy="670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4884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spc="-30" kern="0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 of Environmental Intelligence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9C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building is becoming a sensor. </a:t>
            </a:r>
            <a:pPr algn="l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 built the software that turns those measurements into trusted decisions.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66928" y="4892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spc="-20" kern="0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 is building the interpretation layer for environmental intelligence.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EA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</a:t>
            </a:r>
            <a:pPr algn="l" indent="0" marL="0">
              <a:buNone/>
            </a:pPr>
            <a:r>
              <a:rPr lang="en-US" sz="1250" b="1" dirty="0">
                <a:solidFill>
                  <a:srgbClr val="3A4D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pPr algn="l" indent="0" marL="0">
              <a:buNone/>
            </a:pPr>
            <a:r>
              <a:rPr lang="en-US" sz="1250" b="1" dirty="0">
                <a:solidFill>
                  <a:srgbClr val="8EA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2026</a:t>
            </a:r>
            <a:pPr algn="l" indent="0" marL="0">
              <a:buNone/>
            </a:pPr>
            <a:r>
              <a:rPr lang="en-US" sz="1250" b="1" dirty="0">
                <a:solidFill>
                  <a:srgbClr val="3A4D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pPr algn="l" indent="0" marL="0">
              <a:buNone/>
            </a:pPr>
            <a:r>
              <a:rPr lang="en-US" sz="1250" b="1" dirty="0">
                <a:solidFill>
                  <a:srgbClr val="8EA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atmosflow.net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SHIFT IS HAPPENING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bottleneck moved from collecting data to interpreting it.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2514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282549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measurements were expensive.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35661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buildings weren't monitored. A reading was a scheduled event, taken by a specialist.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89904" y="2560320"/>
            <a:ext cx="0" cy="1828800"/>
          </a:xfrm>
          <a:prstGeom prst="line">
            <a:avLst/>
          </a:prstGeom>
          <a:noFill/>
          <a:ln w="19050">
            <a:solidFill>
              <a:srgbClr val="E6EB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15584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0" y="2514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0" y="282549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sensing is becoming standard.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858000" y="35661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Buildings now stream millions of environmental measurements. The data is no longer the hard part.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709160"/>
            <a:ext cx="539496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19088" y="4709160"/>
            <a:ext cx="5221224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49103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+10–13%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22960" y="54955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growth in the commercial sensor installed base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49103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~7,000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675120" y="54955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Credentialed interpreters worldwide — the constraint that isn’t growing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IndexBox, 2026; BGC / ABIH program data as reported by industry sources.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workflow was never designed.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tools, six handoffs. Nobody chose this — it accumulated.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35723" y="3136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46619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46619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export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415415" y="3136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26311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26311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95106" y="3136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6002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06002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574797" y="3136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85693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85693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154489" y="3136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65385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465385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Judgment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734180" y="3136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045076" y="2880360"/>
            <a:ext cx="15796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045076" y="3172968"/>
            <a:ext cx="15796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66928" y="3840480"/>
            <a:ext cx="2572436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86384" y="4096512"/>
            <a:ext cx="21335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6–10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786384" y="4681728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per assessment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395396" y="3840480"/>
            <a:ext cx="2572436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614852" y="4096512"/>
            <a:ext cx="21335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3614852" y="4681728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practitioner to practitioner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23864" y="3840480"/>
            <a:ext cx="2572436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443320" y="4096512"/>
            <a:ext cx="21335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Unscalable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443320" y="4681728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in expert time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052331" y="3840480"/>
            <a:ext cx="2572436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271787" y="4096512"/>
            <a:ext cx="21335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QA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9271787" y="4681728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left undocumented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560320"/>
            <a:ext cx="73152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6400800" cy="457200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7FE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0" kern="0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new sensor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spc="-40" kern="0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another report. 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spc="-4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expert.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in. Trusted decisions out.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2421560" cy="27432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560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127248"/>
            <a:ext cx="1909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840480"/>
            <a:ext cx="1909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observations, logger exports and building data enter one structured workspace.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006776" y="340156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445688" y="2286000"/>
            <a:ext cx="2421560" cy="27432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01720" y="2560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172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01720" y="3127248"/>
            <a:ext cx="1909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engine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01720" y="3840480"/>
            <a:ext cx="1909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screening logic evaluates every value. No model sets a threshold.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85536" y="340156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324448" y="2286000"/>
            <a:ext cx="2421560" cy="27432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0480" y="2560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048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0480" y="3127248"/>
            <a:ext cx="1909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review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80480" y="3840480"/>
            <a:ext cx="1909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Credentialed judgement is applied and recorded against the findings.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764295" y="340156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203207" y="2286000"/>
            <a:ext cx="2421560" cy="27432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459239" y="2560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59239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59239" y="3127248"/>
            <a:ext cx="1909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decision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459239" y="3840480"/>
            <a:ext cx="1909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conclusion someone will sign their name to — with its reasoning attached.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53949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path. </a:t>
            </a:r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path, every time.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DETERMINISTIC WINS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communicates. Deterministic logic decides.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530032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2459736"/>
            <a:ext cx="456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GENERAL-PURPOSE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2788920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32688" y="3474720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  </a:t>
            </a:r>
            <a:pPr indent="0" marL="0">
              <a:buNone/>
            </a:pPr>
            <a:r>
              <a:rPr lang="en-US" sz="14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hallucinate a threshold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4041648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  </a:t>
            </a:r>
            <a:pPr indent="0" marL="0">
              <a:buNone/>
            </a:pPr>
            <a:r>
              <a:rPr lang="en-US" sz="14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across runs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" y="4608576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  </a:t>
            </a:r>
            <a:pPr indent="0" marL="0">
              <a:buNone/>
            </a:pPr>
            <a:r>
              <a:rPr lang="en-US" sz="14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not recoverable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24448" y="2148840"/>
            <a:ext cx="5300320" cy="3657600"/>
          </a:xfrm>
          <a:prstGeom prst="roundRect">
            <a:avLst>
              <a:gd name="adj" fmla="val 4000"/>
            </a:avLst>
          </a:prstGeom>
          <a:solidFill>
            <a:srgbClr val="0D1729"/>
          </a:solidFill>
          <a:ln/>
          <a:effectLst>
            <a:outerShdw sx="100000" sy="100000" kx="0" ky="0" algn="bl" rotWithShape="0" blurRad="330200" dist="114300" dir="5400000">
              <a:srgbClr val="0B1220">
                <a:alpha val="2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90208" y="2459736"/>
            <a:ext cx="456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90208" y="2788920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690208" y="3474720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</a:t>
            </a:r>
            <a:pPr indent="0" marL="0">
              <a:buNone/>
            </a:pPr>
            <a:r>
              <a:rPr lang="en-US" sz="140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value cited to a source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90208" y="4041648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</a:t>
            </a:r>
            <a:pPr indent="0" marL="0">
              <a:buNone/>
            </a:pPr>
            <a:r>
              <a:rPr lang="en-US" sz="140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Reproducible, run after run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90208" y="4608576"/>
            <a:ext cx="456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 </a:t>
            </a:r>
            <a:pPr indent="0" marL="0">
              <a:buNone/>
            </a:pPr>
            <a:r>
              <a:rPr lang="en-US" sz="140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persists with the file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to “isn’t this a GPT wrapper”: the model never touches a number.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PROFESSIONALS TRUST 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is the product.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2545004" cy="2834640"/>
          </a:xfrm>
          <a:prstGeom prst="roundRect">
            <a:avLst>
              <a:gd name="adj" fmla="val 574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9536" y="2615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" y="3383280"/>
            <a:ext cx="19963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9536" y="4114800"/>
            <a:ext cx="19963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value cites its source.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04540" y="2286000"/>
            <a:ext cx="2545004" cy="2834640"/>
          </a:xfrm>
          <a:prstGeom prst="roundRect">
            <a:avLst>
              <a:gd name="adj" fmla="val 574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97148" y="2615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7148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97148" y="3383280"/>
            <a:ext cx="19963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697148" y="4114800"/>
            <a:ext cx="19963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reasoning persists with the file.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42152" y="2286000"/>
            <a:ext cx="2545004" cy="2834640"/>
          </a:xfrm>
          <a:prstGeom prst="roundRect">
            <a:avLst>
              <a:gd name="adj" fmla="val 574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4760" y="2615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4760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34760" y="3383280"/>
            <a:ext cx="19963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Defensibility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34760" y="4114800"/>
            <a:ext cx="19963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Screening, scoped and stated.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79763" y="2286000"/>
            <a:ext cx="2545004" cy="2834640"/>
          </a:xfrm>
          <a:prstGeom prst="roundRect">
            <a:avLst>
              <a:gd name="adj" fmla="val 574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372371" y="2615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72371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72371" y="3383280"/>
            <a:ext cx="19963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review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372371" y="4114800"/>
            <a:ext cx="19963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credentialed human signs.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Capture. Interpret. Deliver.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3442106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2743200"/>
            <a:ext cx="27105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3200400"/>
            <a:ext cx="271058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32688" y="3886200"/>
            <a:ext cx="27105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guided assessment collects building, HVAC, observation and logger data in one structured workspace.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4794" y="2286000"/>
            <a:ext cx="3442106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40554" y="2743200"/>
            <a:ext cx="27105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40554" y="3200400"/>
            <a:ext cx="271058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40554" y="3886200"/>
            <a:ext cx="27105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deterministic engine scores findings against cited references and builds the causal pathway.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82661" y="2286000"/>
            <a:ext cx="3442106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548421" y="2743200"/>
            <a:ext cx="271058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48421" y="3200400"/>
            <a:ext cx="271058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8421" y="3886200"/>
            <a:ext cx="27105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draft report — executive summary through recommendations — ready for professional review.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 beta today, with a complete sample report published for public inspection.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Built, tested, and asked for by name.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566928" y="2240280"/>
            <a:ext cx="26060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38658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modules shipped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47288" y="2240280"/>
            <a:ext cx="26060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03320" y="238658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70332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 frameworks integrated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749040"/>
            <a:ext cx="26060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89534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beta testers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47288" y="3749040"/>
            <a:ext cx="260604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03320" y="389534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3703320" y="4572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sample report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2240280"/>
            <a:ext cx="5315407" cy="1371600"/>
          </a:xfrm>
          <a:prstGeom prst="roundRect">
            <a:avLst>
              <a:gd name="adj" fmla="val 9333"/>
            </a:avLst>
          </a:prstGeom>
          <a:solidFill>
            <a:srgbClr val="0D1729"/>
          </a:solidFill>
          <a:ln/>
          <a:effectLst>
            <a:outerShdw sx="100000" sy="100000" kx="0" ky="0" algn="bl" rotWithShape="0" blurRad="330200" dist="114300" dir="5400000">
              <a:srgbClr val="0B1220">
                <a:alpha val="2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620256" y="2441448"/>
            <a:ext cx="46936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“It will be the foundation for all of my future IAQ investigations.”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620256" y="320040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F., CSP, CHMM </a:t>
            </a:r>
            <a:pPr indent="0" marL="0">
              <a:buNone/>
            </a:pPr>
            <a:r>
              <a:rPr lang="en-US" sz="1100" dirty="0">
                <a:solidFill>
                  <a:srgbClr val="93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Memorial Sloan Kettering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3813048"/>
            <a:ext cx="5315407" cy="1371600"/>
          </a:xfrm>
          <a:prstGeom prst="roundRect">
            <a:avLst>
              <a:gd name="adj" fmla="val 9333"/>
            </a:avLst>
          </a:prstGeom>
          <a:solidFill>
            <a:srgbClr val="0D1729"/>
          </a:solidFill>
          <a:ln/>
          <a:effectLst>
            <a:outerShdw sx="100000" sy="100000" kx="0" ky="0" algn="bl" rotWithShape="0" blurRad="330200" dist="114300" dir="5400000">
              <a:srgbClr val="0B1220">
                <a:alpha val="2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620256" y="4014216"/>
            <a:ext cx="46936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quality of the final reports is radically impressive.”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20256" y="4773168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Yvette C. </a:t>
            </a:r>
            <a:pPr indent="0" marL="0">
              <a:buNone/>
            </a:pPr>
            <a:r>
              <a:rPr lang="en-US" sz="1100" dirty="0">
                <a:solidFill>
                  <a:srgbClr val="93A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Regional Safety Engineer, Amazon Web Services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" y="641908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Unpaid beta. Counts are shipped-to-date build metrics. Testimonials reproduced from atmosflow.net; employer names are the testers’ own stated affiliations, not organizational endorsements.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layer, not a new competitor.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0D1729"/>
          </a:solidFill>
          <a:ln/>
          <a:effectLst>
            <a:outerShdw sx="100000" sy="100000" kx="0" ky="0" algn="bl" rotWithShape="0" blurRad="330200" dist="114300" dir="5400000">
              <a:srgbClr val="0B1220">
                <a:alpha val="2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77824" y="2093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00" dirty="0"/>
          </a:p>
        </p:txBody>
      </p:sp>
      <p:pic>
        <p:nvPicPr>
          <p:cNvPr id="8" name="Image 1" descr="/tmp/word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368296"/>
            <a:ext cx="1371600" cy="21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1568" y="1965960"/>
            <a:ext cx="5852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7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become scored, cited findings a professional will sign.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73007" y="1965960"/>
            <a:ext cx="23408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66928" y="2880360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77824" y="2880360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OF RECORD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01568" y="2880360"/>
            <a:ext cx="5852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platforms storing incidents, audits and compliance records.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973007" y="2880360"/>
            <a:ext cx="23408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Cority · VelocityEHS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" y="3794760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77824" y="3794760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01568" y="3794760"/>
            <a:ext cx="5852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Installed monitors streaming live readings to dashboards.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973007" y="3794760"/>
            <a:ext cx="23408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Airthings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66928" y="4709160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77824" y="4709160"/>
            <a:ext cx="2286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01568" y="4709160"/>
            <a:ext cx="5852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instruments that capture the measurement itself.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973007" y="4709160"/>
            <a:ext cx="23408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GrayWolf · TSI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Everyone below the line produces data. </a:t>
            </a:r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the layer that produces the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EXPANSION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is the beachhead, not the market.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66928" y="214884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2860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2860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1353312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quality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53312" y="2551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Indoor air quality · the engine’s first domain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81728" y="2331720"/>
            <a:ext cx="1554480" cy="329184"/>
          </a:xfrm>
          <a:prstGeom prst="rect">
            <a:avLst>
              <a:gd name="adj" fmla="val 50000"/>
            </a:avLst>
          </a:prstGeom>
          <a:solidFill>
            <a:srgbClr val="EAF9FF"/>
          </a:solidFill>
          <a:ln w="12700">
            <a:solidFill>
              <a:srgbClr val="BFE9F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 beta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297180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1089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F9FF"/>
          </a:solidFill>
          <a:ln/>
        </p:spPr>
      </p:sp>
      <p:sp>
        <p:nvSpPr>
          <p:cNvPr id="15" name="Text 12"/>
          <p:cNvSpPr/>
          <p:nvPr/>
        </p:nvSpPr>
        <p:spPr>
          <a:xfrm>
            <a:off x="1353312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374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HydroScan architecture already extends here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81728" y="3154680"/>
            <a:ext cx="1554480" cy="329184"/>
          </a:xfrm>
          <a:prstGeom prst="rect">
            <a:avLst>
              <a:gd name="adj" fmla="val 50000"/>
            </a:avLst>
          </a:prstGeom>
          <a:solidFill>
            <a:srgbClr val="F2F5F8"/>
          </a:solidFill>
          <a:ln w="12700">
            <a:solidFill>
              <a:srgbClr val="E6EB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379476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39319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F9FF"/>
          </a:solidFill>
          <a:ln/>
        </p:spPr>
      </p:sp>
      <p:sp>
        <p:nvSpPr>
          <p:cNvPr id="20" name="Text 17"/>
          <p:cNvSpPr/>
          <p:nvPr/>
        </p:nvSpPr>
        <p:spPr>
          <a:xfrm>
            <a:off x="1353312" y="3886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53312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engine, new reference library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461772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9808" y="475488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F9FF"/>
          </a:solidFill>
          <a:ln/>
        </p:spPr>
      </p:sp>
      <p:sp>
        <p:nvSpPr>
          <p:cNvPr id="24" name="Text 21"/>
          <p:cNvSpPr/>
          <p:nvPr/>
        </p:nvSpPr>
        <p:spPr>
          <a:xfrm>
            <a:off x="1353312" y="4709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Radiation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53312" y="50200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engine, new reference library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544068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9808" y="55778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F9FF"/>
          </a:solidFill>
          <a:ln/>
        </p:spPr>
      </p:sp>
      <p:sp>
        <p:nvSpPr>
          <p:cNvPr id="28" name="Text 25"/>
          <p:cNvSpPr/>
          <p:nvPr/>
        </p:nvSpPr>
        <p:spPr>
          <a:xfrm>
            <a:off x="1353312" y="5532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Occupational exposure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53312" y="5843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Occupational exposure assessment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720840" y="2148840"/>
            <a:ext cx="4903927" cy="3977640"/>
          </a:xfrm>
          <a:prstGeom prst="roundRect">
            <a:avLst>
              <a:gd name="adj" fmla="val 3678"/>
            </a:avLst>
          </a:prstGeom>
          <a:solidFill>
            <a:srgbClr val="0D1729"/>
          </a:solidFill>
          <a:ln/>
          <a:effectLst>
            <a:outerShdw sx="100000" sy="100000" kx="0" ky="0" algn="bl" rotWithShape="0" blurRad="330200" dist="114300" dir="5400000">
              <a:srgbClr val="0B1220">
                <a:alpha val="2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086600" y="2514600"/>
            <a:ext cx="417240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quality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086600" y="3154680"/>
            <a:ext cx="417240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library: ASHRAE 62.1 · ASHRAE 55 · NIOSH RELs · US EPA · WHO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086600" y="3840480"/>
            <a:ext cx="417240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Indoor air quality is where AtmosFlow is live in beta today — the proving ground for the deterministic core.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086600" y="5303520"/>
            <a:ext cx="4172407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86600" y="5468112"/>
            <a:ext cx="417240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engine is domain-agnostic.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reference library changes per hazard class.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customer is a step up the ladder.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</a:t>
            </a:r>
            <a:pPr indent="0" marL="0">
              <a:buNone/>
            </a:pPr>
            <a:r>
              <a:rPr lang="en-US" sz="15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with a single assessment.  </a:t>
            </a:r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pPr indent="0" marL="0">
              <a:buNone/>
            </a:pPr>
            <a:r>
              <a:rPr lang="en-US" sz="15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into infrastructure.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3931920"/>
            <a:ext cx="2558720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" y="3785616"/>
            <a:ext cx="1280160" cy="310896"/>
          </a:xfrm>
          <a:prstGeom prst="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" y="4151376"/>
            <a:ext cx="2119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" y="4425696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86384" y="4828032"/>
            <a:ext cx="21198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$149–399 / month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" y="5175504"/>
            <a:ext cx="2119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individual practitioner, subscribed.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99968" y="3621024"/>
            <a:ext cx="2558720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19424" y="3474720"/>
            <a:ext cx="1280160" cy="310896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19424" y="3840480"/>
            <a:ext cx="2119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PRACTITIONER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19424" y="411480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report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619424" y="4517136"/>
            <a:ext cx="21198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$249 / report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19424" y="4864608"/>
            <a:ext cx="2119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Pay-as-you-go entry, no commitment.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33008" y="3310128"/>
            <a:ext cx="2558720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52464" y="3163824"/>
            <a:ext cx="1280160" cy="310896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52464" y="3529584"/>
            <a:ext cx="2119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52464" y="3803904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452464" y="4206240"/>
            <a:ext cx="21198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Seat-based annual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52464" y="4553712"/>
            <a:ext cx="2119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teams standardized on one path.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66047" y="2999232"/>
            <a:ext cx="2558720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285503" y="2852928"/>
            <a:ext cx="1280160" cy="310896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285503" y="3218688"/>
            <a:ext cx="2119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285503" y="3493008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285503" y="3895344"/>
            <a:ext cx="21198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Usage-based, future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285503" y="4242816"/>
            <a:ext cx="2119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engine inside someone else’s product.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" y="641908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not yet published publicly; beta users are promised founding-member pricing at launch.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Lived the workflow. Built the engine. Built the company.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66928" y="2377440"/>
            <a:ext cx="3442106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30781" y="27432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30781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41248" y="3794760"/>
            <a:ext cx="28934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Tsidi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4251960"/>
            <a:ext cx="289346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Lived the workflow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" y="4663440"/>
            <a:ext cx="289346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Tsidi Tamakloe, CSP — 13+ years in EHS, the last decade investigating indoor air quality across federal agencies, healthcare, laboratories and commercial buildings. Founder of Prudence EHS.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74794" y="2377440"/>
            <a:ext cx="3442106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38648" y="27432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38648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649114" y="3794760"/>
            <a:ext cx="28934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Francis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649114" y="4251960"/>
            <a:ext cx="289346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the engine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49114" y="4663440"/>
            <a:ext cx="289346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lead behind the deterministic scoring engine — the cited screening logic that never lets a model set a threshold.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82661" y="2377440"/>
            <a:ext cx="3442106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446514" y="27432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446514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456981" y="3794760"/>
            <a:ext cx="28934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Enoch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456981" y="4251960"/>
            <a:ext cx="289346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the company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456981" y="4663440"/>
            <a:ext cx="289346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go-to-market — turning a proven workflow into a business practitioners can buy and rely 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560320"/>
            <a:ext cx="73152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6400800" cy="457200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7FE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spc="-40" kern="0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environmental measurement
</a:t>
            </a:r>
            <a:pPr indent="0" marL="0">
              <a:lnSpc>
                <a:spcPct val="110000"/>
              </a:lnSpc>
              <a:buNone/>
            </a:pPr>
            <a:r>
              <a:rPr lang="en-US" sz="3800" b="1" spc="-4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deserves trusted interpretation.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F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is our beachhead. </a:t>
            </a:r>
            <a:pPr indent="0" marL="0">
              <a:buNone/>
            </a:pPr>
            <a:r>
              <a:rPr lang="en-US" sz="1800" b="1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intelligence is the horizon.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Raising a pre-seed round on a SAFE.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next 18 months buy.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377440"/>
            <a:ext cx="2006742" cy="2377440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15495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launch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886200"/>
            <a:ext cx="154954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the beta cohort to founding-member subscriptions.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29702" y="2377440"/>
            <a:ext cx="2006742" cy="2377440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85734" y="267004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3085734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85734" y="3291840"/>
            <a:ext cx="15495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customers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085734" y="3886200"/>
            <a:ext cx="154954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Practitioners and small firms, sold direct and through associations.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92476" y="2377440"/>
            <a:ext cx="2006742" cy="2377440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8508" y="267004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5348508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48508" y="3291840"/>
            <a:ext cx="15495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pilots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48508" y="3886200"/>
            <a:ext cx="154954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seat-based deployments with institutional buyers.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55251" y="2377440"/>
            <a:ext cx="2006742" cy="2377440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11283" y="267004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1"/>
          <p:cNvSpPr/>
          <p:nvPr/>
        </p:nvSpPr>
        <p:spPr>
          <a:xfrm>
            <a:off x="7611283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611283" y="3291840"/>
            <a:ext cx="15495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module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11283" y="3886200"/>
            <a:ext cx="154954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hazard class on the same deterministic core.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18025" y="2377440"/>
            <a:ext cx="2006742" cy="2377440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74057" y="267004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6"/>
          <p:cNvSpPr/>
          <p:nvPr/>
        </p:nvSpPr>
        <p:spPr>
          <a:xfrm>
            <a:off x="9874057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874057" y="3291840"/>
            <a:ext cx="154954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874057" y="3886200"/>
            <a:ext cx="154954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platform partner embedding the engine.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928" y="5074920"/>
            <a:ext cx="11057839" cy="713232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E6EBEF"/>
            </a:solidFill>
            <a:prstDash val="solid"/>
          </a:ln>
        </p:spPr>
      </p:sp>
      <p:pic>
        <p:nvPicPr>
          <p:cNvPr id="33" name="Image 1" descr="/tmp/wordma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330952"/>
            <a:ext cx="1280160" cy="204107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212848" y="5074920"/>
            <a:ext cx="932047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 Tsidi Tamakloe, CSP · Founder    ·    </a:t>
            </a:r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tsidi@prudenceehs.com</a:t>
            </a:r>
            <a:pPr indent="0" marL="0">
              <a:buNone/>
            </a:pPr>
            <a:r>
              <a:rPr lang="en-US" sz="1300" b="1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·    </a:t>
            </a:r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atmosflow.net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560320"/>
            <a:ext cx="73152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6400800" cy="457200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7FE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DILIGENCE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AF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3429000"/>
            <a:ext cx="1801368" cy="457200"/>
          </a:xfrm>
          <a:prstGeom prst="rect">
            <a:avLst>
              <a:gd name="adj" fmla="val 48000"/>
            </a:avLst>
          </a:prstGeom>
          <a:solidFill>
            <a:srgbClr val="1230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9464" y="3429000"/>
            <a:ext cx="2966314" cy="457200"/>
          </a:xfrm>
          <a:prstGeom prst="rect">
            <a:avLst>
              <a:gd name="adj" fmla="val 48000"/>
            </a:avLst>
          </a:prstGeom>
          <a:solidFill>
            <a:srgbClr val="1230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&amp; AI guardrails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36946" y="3429000"/>
            <a:ext cx="1801368" cy="457200"/>
          </a:xfrm>
          <a:prstGeom prst="rect">
            <a:avLst>
              <a:gd name="adj" fmla="val 48000"/>
            </a:avLst>
          </a:prstGeom>
          <a:solidFill>
            <a:srgbClr val="1230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 basis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39482" y="3429000"/>
            <a:ext cx="1084478" cy="457200"/>
          </a:xfrm>
          <a:prstGeom prst="rect">
            <a:avLst>
              <a:gd name="adj" fmla="val 48000"/>
            </a:avLst>
          </a:prstGeom>
          <a:solidFill>
            <a:srgbClr val="1230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F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below this divider is for diligence, not the room.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FINANCIAL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$11M ARR on under 8% of U.S. firms.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66928" y="2194560"/>
            <a:ext cx="640080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77824" y="24323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ARR — five-year model ($M)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" y="2880360"/>
          <a:ext cx="60350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2194560"/>
            <a:ext cx="4401007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9808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03920" y="2194560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9521647" y="2194560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 customers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0.3% of U.S. firms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223760" y="3557016"/>
            <a:ext cx="4401007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498080" y="3739896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503920" y="3557016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$3.2M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9521647" y="3557016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1,200 customers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2.2% of U.S. firms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223760" y="4919472"/>
            <a:ext cx="4401007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498080" y="510235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9F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5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503920" y="4919472"/>
            <a:ext cx="1645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$11.3M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9521647" y="4919472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4,200 customers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 of U.S. firms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6928" y="6419088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E7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to a constant ~$2,700 blended annual contract value — growth comes from customer count, not price. Penetration calculated against 53,973 U.S. environmental consulting firms (IBISWorld, 2025). Projections are management estimates.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ARCHITECTURE AND AI GUARDRAILS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AI is allowed, and where it is not.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66928" y="2103120"/>
            <a:ext cx="3503066" cy="3063240"/>
          </a:xfrm>
          <a:prstGeom prst="roundRect">
            <a:avLst>
              <a:gd name="adj" fmla="val 4478"/>
            </a:avLst>
          </a:prstGeom>
          <a:solidFill>
            <a:srgbClr val="0D1729"/>
          </a:solidFill>
          <a:ln/>
          <a:effectLst>
            <a:outerShdw sx="100000" sy="100000" kx="0" ky="0" algn="bl" rotWithShape="0" blurRad="330200" dist="114300" dir="5400000">
              <a:srgbClr val="0B1220">
                <a:alpha val="2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" y="2377440"/>
            <a:ext cx="291785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7F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ENGINE OWNS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" y="2880360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screening reference and threshold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9536" y="3410712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score, sub-score and outcome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9536" y="3941064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handling when inputs are missing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9536" y="4471416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6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from each value to its citation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4314" y="2103120"/>
            <a:ext cx="3503066" cy="3063240"/>
          </a:xfrm>
          <a:prstGeom prst="roundRect">
            <a:avLst>
              <a:gd name="adj" fmla="val 4478"/>
            </a:avLst>
          </a:prstGeom>
          <a:solidFill>
            <a:srgbClr val="EAF9FF"/>
          </a:solidFill>
          <a:ln w="12700">
            <a:solidFill>
              <a:srgbClr val="BFE9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922" y="2377440"/>
            <a:ext cx="291785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PERMITTED 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36922" y="2880360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text and tables from uploaded documents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636922" y="3410712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narrative prose from engine outputs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636922" y="3941064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questions about a completed assessment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21701" y="2103120"/>
            <a:ext cx="3503066" cy="3063240"/>
          </a:xfrm>
          <a:prstGeom prst="roundRect">
            <a:avLst>
              <a:gd name="adj" fmla="val 4478"/>
            </a:avLst>
          </a:prstGeom>
          <a:solidFill>
            <a:srgbClr val="FDF1F0"/>
          </a:solidFill>
          <a:ln w="12700">
            <a:solidFill>
              <a:srgbClr val="F4D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4309" y="2377440"/>
            <a:ext cx="291785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NEVER PERMITTED TO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4309" y="2880360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A5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or adjust any screening reference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414309" y="3410712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A5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a score, severity or outcome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414309" y="3941064"/>
            <a:ext cx="29544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D25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A5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 compliance, causation or health effect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544068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0B1220"/>
          </a:solidFill>
          <a:ln/>
        </p:spPr>
      </p:sp>
      <p:sp>
        <p:nvSpPr>
          <p:cNvPr id="23" name="Text 20"/>
          <p:cNvSpPr/>
          <p:nvPr/>
        </p:nvSpPr>
        <p:spPr>
          <a:xfrm>
            <a:off x="877824" y="5440680"/>
            <a:ext cx="1043604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linter: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banned-phrase check inspects every generated output and blocks compliance, causation and clinical language before it can leave the system.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49377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486400" cy="402336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STANDARDS BASIS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the references you already cite.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566928" y="2194560"/>
            <a:ext cx="2006742" cy="2286000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2450592"/>
            <a:ext cx="15678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ASHRAE 62.1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" y="2980944"/>
            <a:ext cx="156783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Ventilation for acceptable indoor air quality.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" y="4096512"/>
            <a:ext cx="15678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VENTILATION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29702" y="2194560"/>
            <a:ext cx="2006742" cy="2286000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49158" y="2450592"/>
            <a:ext cx="15678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ASHRAE 55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049158" y="2980944"/>
            <a:ext cx="156783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environmental conditions for human occupancy.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49158" y="4096512"/>
            <a:ext cx="15678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COMFORT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92476" y="2194560"/>
            <a:ext cx="2006742" cy="2286000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11932" y="2450592"/>
            <a:ext cx="15678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NIOSH RELs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11932" y="2980944"/>
            <a:ext cx="156783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exposure limits for airborne contaminants.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11932" y="4096512"/>
            <a:ext cx="15678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LIMITS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55251" y="2194560"/>
            <a:ext cx="2006742" cy="2286000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574707" y="2450592"/>
            <a:ext cx="15678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EPA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74707" y="2980944"/>
            <a:ext cx="156783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Indoor air quality guidance and building assessment protocol.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574707" y="4096512"/>
            <a:ext cx="15678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618025" y="2194560"/>
            <a:ext cx="2006742" cy="2286000"/>
          </a:xfrm>
          <a:prstGeom prst="roundRect">
            <a:avLst>
              <a:gd name="adj" fmla="val 6379"/>
            </a:avLst>
          </a:prstGeom>
          <a:solidFill>
            <a:srgbClr val="FFFFFF"/>
          </a:solidFill>
          <a:ln w="12700">
            <a:solidFill>
              <a:srgbClr val="E6EBEF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14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837481" y="2450592"/>
            <a:ext cx="15678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837481" y="2980944"/>
            <a:ext cx="156783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Indoor air quality guidelines for selected pollutants.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37481" y="4096512"/>
            <a:ext cx="15678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GUIDELINES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6928" y="484632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map to the frameworks the professional’s reports already rely on.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 screens against these references; it does not determine regulatory compliance.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output is flagged for review and carries no conclusion until a credentialed professional signs it.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ainmark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1259007" y="384048"/>
            <a:ext cx="384048" cy="3273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76656"/>
            <a:ext cx="25603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2688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SOURCES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32688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spc="-20" kern="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numbers come from.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66928" y="2002536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093976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 count &amp; industry revenue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386584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IBISWorld, Environmental Consulting in the US (NAICS 54162) — 53,973 businesses (2025); $27.4B industry revenue (2026); 2.6 employees per business.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3026664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118104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IAQ monitoring market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3410712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&amp; Markets, Indoor Air Quality Monitoring Solution Market — $4.28B (2026) to $8.45B (2032), 11.9% CAGR.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4050792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142232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installed base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4434840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IndexBox, Indoor Air Quality Sensor market outlook, 2026 — commercial building installed base growing 10–13% annually.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" y="5074920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5166360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EHS software market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5458968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Mordor Intelligence, EHS Software Market — $2.48B (2026) to $3.92B (2031), 9.64% CAGR.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70168" y="2002536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0168" y="2093976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CIH population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70168" y="2386584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for Global EHS Credentialing (formerly ABIH) program data as reported by industry sources — roughly 7,000 active CIH holders worldwide, about 600 exam candidates annually.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70168" y="3026664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0168" y="3118104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testimonials, standards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70168" y="3410712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atmosflow.net landing page and published sample report, retrieved August 2026.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70168" y="4050792"/>
            <a:ext cx="5254600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70168" y="4142232"/>
            <a:ext cx="525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model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70168" y="4434840"/>
            <a:ext cx="525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1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AtmosFlow five-year model. Management estimates; penetration derived from the IBISWorld firm count above.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Prudence EHS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AtmosFlow — Investor Deck</dc:title>
  <dc:subject>PptxGenJS Presentation</dc:subject>
  <dc:creator>AtmosFlow</dc:creator>
  <cp:lastModifiedBy>AtmosFlow</cp:lastModifiedBy>
  <cp:revision>1</cp:revision>
  <dcterms:created xsi:type="dcterms:W3CDTF">2026-08-02T14:31:51Z</dcterms:created>
  <dcterms:modified xsi:type="dcterms:W3CDTF">2026-08-02T14:31:51Z</dcterms:modified>
</cp:coreProperties>
</file>